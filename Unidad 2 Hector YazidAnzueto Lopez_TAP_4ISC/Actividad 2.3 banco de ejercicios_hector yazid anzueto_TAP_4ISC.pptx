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3" r:id="rId2"/>
    <p:sldId id="257" r:id="rId3"/>
    <p:sldId id="258" r:id="rId4"/>
    <p:sldId id="259" r:id="rId5"/>
    <p:sldId id="261" r:id="rId6"/>
    <p:sldId id="262" r:id="rId7"/>
    <p:sldId id="260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50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5/31/2026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3015196" y="1972507"/>
            <a:ext cx="4802918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Instituto Tecnológico de Frontera Comalapa</a:t>
            </a:r>
            <a:endParaRPr kumimoji="0" lang="es-MX" altLang="es-MX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Modalidad Mixta</a:t>
            </a:r>
            <a:endParaRPr kumimoji="0" lang="es-MX" altLang="es-MX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Materia:</a:t>
            </a:r>
            <a:endParaRPr kumimoji="0" lang="es-MX" altLang="es-MX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Tópicos avanzados de programación</a:t>
            </a:r>
            <a:endParaRPr kumimoji="0" lang="es-MX" altLang="es-MX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Semestre:</a:t>
            </a:r>
            <a:endParaRPr kumimoji="0" lang="es-MX" altLang="es-MX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Cuarto</a:t>
            </a:r>
            <a:endParaRPr kumimoji="0" lang="es-MX" altLang="es-MX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Carrera:</a:t>
            </a:r>
            <a:endParaRPr kumimoji="0" lang="es-MX" altLang="es-MX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Ingeniería en sistemas computacionales</a:t>
            </a:r>
            <a:endParaRPr kumimoji="0" lang="es-MX" altLang="es-MX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Numero de control:</a:t>
            </a:r>
            <a:endParaRPr kumimoji="0" lang="es-MX" altLang="es-MX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241260005</a:t>
            </a:r>
            <a:endParaRPr kumimoji="0" lang="es-MX" altLang="es-MX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Nombre del alumno:</a:t>
            </a:r>
            <a:endParaRPr kumimoji="0" lang="es-MX" altLang="es-MX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Hector</a:t>
            </a:r>
            <a:r>
              <a:rPr kumimoji="0" lang="es-MX" altLang="es-MX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s-MX" altLang="es-MX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Yazid</a:t>
            </a:r>
            <a:r>
              <a:rPr kumimoji="0" lang="es-MX" altLang="es-MX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s-MX" altLang="es-MX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Anzueto</a:t>
            </a:r>
            <a:r>
              <a:rPr kumimoji="0" lang="es-MX" altLang="es-MX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s-MX" altLang="es-MX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Lopez</a:t>
            </a:r>
            <a:endParaRPr kumimoji="0" lang="es-MX" altLang="es-MX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Nombre del docente:</a:t>
            </a:r>
            <a:endParaRPr kumimoji="0" lang="es-MX" altLang="es-MX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Francisco Javier Mingo </a:t>
            </a:r>
            <a:r>
              <a:rPr kumimoji="0" lang="es-MX" altLang="es-MX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Velazquez</a:t>
            </a:r>
            <a:endParaRPr kumimoji="0" lang="es-MX" altLang="es-MX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Nombre del trabajo:</a:t>
            </a:r>
            <a:endParaRPr kumimoji="0" lang="es-MX" altLang="es-MX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Actividad </a:t>
            </a:r>
            <a:r>
              <a:rPr lang="es-MX" altLang="es-MX" sz="1600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2.3</a:t>
            </a:r>
            <a:r>
              <a:rPr lang="es-MX" altLang="es-MX" sz="1600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MX" altLang="es-MX" sz="1600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banco de ejercicios </a:t>
            </a:r>
            <a:r>
              <a:rPr kumimoji="0" lang="es-MX" altLang="es-MX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kumimoji="0" lang="es-MX" altLang="es-MX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Fecha de entrega:</a:t>
            </a:r>
            <a:endParaRPr kumimoji="0" lang="es-MX" altLang="es-MX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Frontera Comalapa, Chiapas a </a:t>
            </a:r>
            <a:r>
              <a:rPr lang="es-MX" altLang="es-MX" sz="1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7</a:t>
            </a:r>
            <a:r>
              <a:rPr kumimoji="0" lang="es-MX" altLang="es-MX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s-MX" altLang="es-MX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 </a:t>
            </a:r>
            <a:r>
              <a:rPr lang="es-MX" altLang="es-MX" sz="1600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mayo</a:t>
            </a:r>
            <a:r>
              <a:rPr kumimoji="0" lang="es-MX" altLang="es-MX" sz="16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es-MX" altLang="es-MX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 2026</a:t>
            </a:r>
            <a:endParaRPr kumimoji="0" lang="es-MX" altLang="es-MX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Imagen 2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14" t="17300" r="29520" b="65802"/>
          <a:stretch>
            <a:fillRect/>
          </a:stretch>
        </p:blipFill>
        <p:spPr bwMode="auto">
          <a:xfrm>
            <a:off x="2209372" y="297961"/>
            <a:ext cx="6507163" cy="147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26371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 smtClean="0"/>
              <a:t>introduccion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El presente banco de ejercicios tiene como finalidad guiar al estudiante en el proceso de instalación y gestión de librerías externas dentro de </a:t>
            </a:r>
            <a:r>
              <a:rPr lang="es-MX" dirty="0" err="1"/>
              <a:t>IntelliJ</a:t>
            </a:r>
            <a:r>
              <a:rPr lang="es-MX" dirty="0"/>
              <a:t> IDEA. A través de ejemplos prácticos, se abordan los métodos más utilizados: agregar dependencias mediante </a:t>
            </a:r>
            <a:r>
              <a:rPr lang="es-MX" dirty="0" err="1"/>
              <a:t>Maven</a:t>
            </a:r>
            <a:r>
              <a:rPr lang="es-MX" dirty="0"/>
              <a:t> y </a:t>
            </a:r>
            <a:r>
              <a:rPr lang="es-MX" dirty="0" err="1"/>
              <a:t>Gradle</a:t>
            </a:r>
            <a:r>
              <a:rPr lang="es-MX" dirty="0"/>
              <a:t>, importar archivos .</a:t>
            </a:r>
            <a:r>
              <a:rPr lang="es-MX" dirty="0" err="1"/>
              <a:t>jar</a:t>
            </a:r>
            <a:r>
              <a:rPr lang="es-MX" dirty="0"/>
              <a:t> de forma manual, utilizar el buscador de librerías de </a:t>
            </a:r>
            <a:r>
              <a:rPr lang="es-MX" dirty="0" err="1"/>
              <a:t>Maven</a:t>
            </a:r>
            <a:r>
              <a:rPr lang="es-MX" dirty="0"/>
              <a:t> Central y configurar módulos en proyectos Java/</a:t>
            </a:r>
            <a:r>
              <a:rPr lang="es-MX" dirty="0" err="1"/>
              <a:t>Kotlin</a:t>
            </a:r>
            <a:r>
              <a:rPr lang="es-MX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653802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Justificación 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Saber programar no es suficiente si no se sabe integrar librerías. Este banco de ejercicios se justifica porque en el desarrollo real el 90% del código reutiliza librerías de terceros para bases de datos, pruebas, </a:t>
            </a:r>
            <a:r>
              <a:rPr lang="es-MX" dirty="0" err="1"/>
              <a:t>APIs</a:t>
            </a:r>
            <a:r>
              <a:rPr lang="es-MX" dirty="0"/>
              <a:t>, gráficos o manejo de archivos. </a:t>
            </a:r>
            <a:r>
              <a:rPr lang="es-MX" dirty="0" err="1" smtClean="0"/>
              <a:t>IntelliJ</a:t>
            </a:r>
            <a:r>
              <a:rPr lang="es-MX" dirty="0" smtClean="0"/>
              <a:t> </a:t>
            </a:r>
            <a:r>
              <a:rPr lang="es-MX" dirty="0"/>
              <a:t>IDEA automatiza gran parte del proceso, pero si el estudiante no entiende </a:t>
            </a:r>
            <a:r>
              <a:rPr lang="es-MX" dirty="0" err="1"/>
              <a:t>Maven</a:t>
            </a:r>
            <a:r>
              <a:rPr lang="es-MX" dirty="0"/>
              <a:t> o </a:t>
            </a:r>
            <a:r>
              <a:rPr lang="es-MX" dirty="0" err="1"/>
              <a:t>Gradle</a:t>
            </a:r>
            <a:r>
              <a:rPr lang="es-MX" dirty="0"/>
              <a:t>, se quedará bloqueado ante el primer error de dependencia. </a:t>
            </a:r>
          </a:p>
        </p:txBody>
      </p:sp>
    </p:spTree>
    <p:extLst>
      <p:ext uri="{BB962C8B-B14F-4D97-AF65-F5344CB8AC3E}">
        <p14:creationId xmlns:p14="http://schemas.microsoft.com/office/powerpoint/2010/main" val="4861982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031" y="905605"/>
            <a:ext cx="11315700" cy="6365081"/>
          </a:xfrm>
          <a:prstGeom prst="rect">
            <a:avLst/>
          </a:prstGeom>
        </p:spPr>
      </p:pic>
      <p:sp>
        <p:nvSpPr>
          <p:cNvPr id="4" name="CuadroTexto 3"/>
          <p:cNvSpPr txBox="1"/>
          <p:nvPr/>
        </p:nvSpPr>
        <p:spPr>
          <a:xfrm>
            <a:off x="1213338" y="237392"/>
            <a:ext cx="8036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 smtClean="0"/>
              <a:t>Librerias</a:t>
            </a:r>
            <a:r>
              <a:rPr lang="es-MX" dirty="0" smtClean="0"/>
              <a:t> de java </a:t>
            </a:r>
            <a:r>
              <a:rPr lang="es-MX" dirty="0" err="1" smtClean="0"/>
              <a:t>fx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6765337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577" y="1117154"/>
            <a:ext cx="10058400" cy="5657850"/>
          </a:xfrm>
          <a:prstGeom prst="rect">
            <a:avLst/>
          </a:prstGeom>
        </p:spPr>
      </p:pic>
      <p:sp>
        <p:nvSpPr>
          <p:cNvPr id="3" name="CuadroTexto 2"/>
          <p:cNvSpPr txBox="1"/>
          <p:nvPr/>
        </p:nvSpPr>
        <p:spPr>
          <a:xfrm>
            <a:off x="1890346" y="562708"/>
            <a:ext cx="5539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 smtClean="0"/>
              <a:t>Librerias</a:t>
            </a:r>
            <a:r>
              <a:rPr lang="es-MX" dirty="0" smtClean="0"/>
              <a:t> de </a:t>
            </a:r>
            <a:r>
              <a:rPr lang="es-MX" dirty="0" err="1" smtClean="0"/>
              <a:t>spring</a:t>
            </a:r>
            <a:r>
              <a:rPr lang="es-MX" dirty="0" smtClean="0"/>
              <a:t> </a:t>
            </a:r>
            <a:r>
              <a:rPr lang="es-MX" dirty="0" err="1" smtClean="0"/>
              <a:t>framework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5540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615" y="1081454"/>
            <a:ext cx="10269415" cy="5776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427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Conclusión</a:t>
            </a:r>
            <a:endParaRPr lang="es-MX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Al finalizar este banco de ejercicios, el estudiante será capaz de instalar cualquier librería en </a:t>
            </a:r>
            <a:r>
              <a:rPr lang="es-MX" dirty="0" err="1"/>
              <a:t>IntelliJ</a:t>
            </a:r>
            <a:r>
              <a:rPr lang="es-MX" dirty="0"/>
              <a:t> IDEA utilizando </a:t>
            </a:r>
            <a:r>
              <a:rPr lang="es-MX" dirty="0" err="1"/>
              <a:t>Maven</a:t>
            </a:r>
            <a:r>
              <a:rPr lang="es-MX" dirty="0"/>
              <a:t>, </a:t>
            </a:r>
            <a:r>
              <a:rPr lang="es-MX" dirty="0" err="1"/>
              <a:t>Gradle</a:t>
            </a:r>
            <a:r>
              <a:rPr lang="es-MX" dirty="0"/>
              <a:t> o de forma manual, resolviendo los errores más comunes de </a:t>
            </a:r>
            <a:r>
              <a:rPr lang="es-MX" dirty="0" err="1"/>
              <a:t>classpath</a:t>
            </a:r>
            <a:r>
              <a:rPr lang="es-MX" dirty="0"/>
              <a:t> y versiones. Se reforzó la importancia de entender los archivos pom.xml y </a:t>
            </a:r>
            <a:r>
              <a:rPr lang="es-MX" dirty="0" err="1"/>
              <a:t>build.gradle</a:t>
            </a:r>
            <a:r>
              <a:rPr lang="es-MX" dirty="0"/>
              <a:t> como el centro de gestión de dependencias, así como el uso de la ventana Project </a:t>
            </a:r>
            <a:r>
              <a:rPr lang="es-MX" dirty="0" err="1"/>
              <a:t>Structure</a:t>
            </a:r>
            <a:r>
              <a:rPr lang="es-MX" dirty="0"/>
              <a:t> &gt; </a:t>
            </a:r>
            <a:r>
              <a:rPr lang="es-MX" dirty="0" err="1"/>
              <a:t>Libraries</a:t>
            </a:r>
            <a:r>
              <a:rPr lang="es-MX" dirty="0"/>
              <a:t> para casos puntuales.</a:t>
            </a:r>
          </a:p>
        </p:txBody>
      </p:sp>
    </p:spTree>
    <p:extLst>
      <p:ext uri="{BB962C8B-B14F-4D97-AF65-F5344CB8AC3E}">
        <p14:creationId xmlns:p14="http://schemas.microsoft.com/office/powerpoint/2010/main" val="68706552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16</TotalTime>
  <Words>293</Words>
  <Application>Microsoft Office PowerPoint</Application>
  <PresentationFormat>Panorámica</PresentationFormat>
  <Paragraphs>26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Arial</vt:lpstr>
      <vt:lpstr>Times New Roman</vt:lpstr>
      <vt:lpstr>Trebuchet MS</vt:lpstr>
      <vt:lpstr>Wingdings 3</vt:lpstr>
      <vt:lpstr>Faceta</vt:lpstr>
      <vt:lpstr>Presentación de PowerPoint</vt:lpstr>
      <vt:lpstr>introduccion</vt:lpstr>
      <vt:lpstr>Justificación </vt:lpstr>
      <vt:lpstr>Presentación de PowerPoint</vt:lpstr>
      <vt:lpstr>Presentación de PowerPoint</vt:lpstr>
      <vt:lpstr>Presentación de PowerPoint</vt:lpstr>
      <vt:lpstr>Conclusión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introduccion</dc:title>
  <dc:creator>HP AMD</dc:creator>
  <cp:lastModifiedBy>HP AMD</cp:lastModifiedBy>
  <cp:revision>2</cp:revision>
  <dcterms:created xsi:type="dcterms:W3CDTF">2026-06-01T01:21:23Z</dcterms:created>
  <dcterms:modified xsi:type="dcterms:W3CDTF">2026-06-01T01:37:38Z</dcterms:modified>
</cp:coreProperties>
</file>
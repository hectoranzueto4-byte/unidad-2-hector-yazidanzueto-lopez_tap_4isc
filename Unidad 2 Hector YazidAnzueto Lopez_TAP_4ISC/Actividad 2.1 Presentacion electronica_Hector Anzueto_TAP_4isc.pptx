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65" r:id="rId2"/>
    <p:sldId id="266" r:id="rId3"/>
    <p:sldId id="267" r:id="rId4"/>
    <p:sldId id="257" r:id="rId5"/>
    <p:sldId id="261" r:id="rId6"/>
    <p:sldId id="258" r:id="rId7"/>
    <p:sldId id="263" r:id="rId8"/>
    <p:sldId id="259" r:id="rId9"/>
    <p:sldId id="262" r:id="rId10"/>
    <p:sldId id="260" r:id="rId11"/>
    <p:sldId id="268" r:id="rId12"/>
    <p:sldId id="264"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7" d="100"/>
          <a:sy n="87" d="100"/>
        </p:scale>
        <p:origin x="52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editar el estilo de subtítulo del patrón</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5/30/2026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5/30/2026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5/30/2026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5/30/2026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42A54C80-263E-416B-A8E0-580EDEADCBDC}" type="datetimeFigureOut">
              <a:rPr lang="en-US" dirty="0"/>
              <a:t>5/30/2026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5/30/2026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5/30/2026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Editar el estilo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5/30/2026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5/30/2026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Editar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5/30/2026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Editar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5/30/2026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5/30/2026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5/30/2026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ChangeArrowheads="1"/>
          </p:cNvSpPr>
          <p:nvPr/>
        </p:nvSpPr>
        <p:spPr bwMode="auto">
          <a:xfrm>
            <a:off x="3062297" y="1949358"/>
            <a:ext cx="4801315"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Instituto Tecnológico de Frontera Comalapa</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Modalidad Mixta</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Materia:</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6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Tópicos avanzados de programación</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Semestre:</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6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Cuarto</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Carrera:</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6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Ingeniería en sistemas computacionales</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Numero de control:</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6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241260005</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Nombre del alumno:</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600" b="0" i="0" u="none" strike="noStrike" cap="none" normalizeH="0" baseline="0" dirty="0" err="1"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Hector</a:t>
            </a:r>
            <a:r>
              <a:rPr kumimoji="0" lang="es-MX" altLang="es-MX" sz="16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a:t>
            </a:r>
            <a:r>
              <a:rPr kumimoji="0" lang="es-MX" altLang="es-MX" sz="1600" b="0" i="0" u="none" strike="noStrike" cap="none" normalizeH="0" baseline="0" dirty="0" err="1"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Yazid</a:t>
            </a:r>
            <a:r>
              <a:rPr kumimoji="0" lang="es-MX" altLang="es-MX" sz="16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a:t>
            </a:r>
            <a:r>
              <a:rPr kumimoji="0" lang="es-MX" altLang="es-MX" sz="1600" b="0" i="0" u="none" strike="noStrike" cap="none" normalizeH="0" baseline="0" dirty="0" err="1"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Anzueto</a:t>
            </a:r>
            <a:r>
              <a:rPr kumimoji="0" lang="es-MX" altLang="es-MX" sz="16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a:t>
            </a:r>
            <a:r>
              <a:rPr kumimoji="0" lang="es-MX" altLang="es-MX" sz="1600" b="0" i="0" u="none" strike="noStrike" cap="none" normalizeH="0" baseline="0" dirty="0" err="1"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Lopez</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Nombre del docente:</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6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Francisco Javier Mingo </a:t>
            </a:r>
            <a:r>
              <a:rPr kumimoji="0" lang="es-MX" altLang="es-MX" sz="1600" b="0" i="0" u="none" strike="noStrike" cap="none" normalizeH="0" baseline="0" dirty="0" err="1"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Velazquez</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Nombre del trabajo:</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6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Actividad </a:t>
            </a:r>
            <a:r>
              <a:rPr lang="es-MX" altLang="es-MX" sz="1600" smtClean="0">
                <a:latin typeface="Arial" panose="020B0604020202020204" pitchFamily="34" charset="0"/>
                <a:ea typeface="Times New Roman" panose="02020603050405020304" pitchFamily="18" charset="0"/>
                <a:cs typeface="Arial" panose="020B0604020202020204" pitchFamily="34" charset="0"/>
              </a:rPr>
              <a:t>2.1 Presentación </a:t>
            </a:r>
            <a:r>
              <a:rPr lang="es-MX" altLang="es-MX" sz="1600" dirty="0" smtClean="0">
                <a:latin typeface="Arial" panose="020B0604020202020204" pitchFamily="34" charset="0"/>
                <a:ea typeface="Times New Roman" panose="02020603050405020304" pitchFamily="18" charset="0"/>
                <a:cs typeface="Arial" panose="020B0604020202020204" pitchFamily="34" charset="0"/>
              </a:rPr>
              <a:t>electrónica </a:t>
            </a:r>
            <a:r>
              <a:rPr kumimoji="0" lang="es-MX" altLang="es-MX" sz="16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Fecha de entrega:</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6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Frontera Comalapa, Chiapas a </a:t>
            </a:r>
            <a:r>
              <a:rPr lang="es-MX" altLang="es-MX" sz="1600" dirty="0" smtClean="0">
                <a:latin typeface="Arial" panose="020B0604020202020204" pitchFamily="34" charset="0"/>
                <a:ea typeface="Times New Roman" panose="02020603050405020304" pitchFamily="18" charset="0"/>
                <a:cs typeface="Arial" panose="020B0604020202020204" pitchFamily="34" charset="0"/>
              </a:rPr>
              <a:t>27</a:t>
            </a:r>
            <a:r>
              <a:rPr kumimoji="0" lang="es-MX" altLang="es-MX" sz="16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a:t>
            </a:r>
            <a:r>
              <a:rPr kumimoji="0" lang="es-MX" altLang="es-MX" sz="16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de abril</a:t>
            </a:r>
            <a:r>
              <a:rPr kumimoji="0" lang="es-MX" altLang="es-MX" sz="1600" b="0" i="0" u="none" strike="noStrike" cap="none" normalizeH="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a:t>
            </a:r>
            <a:r>
              <a:rPr kumimoji="0" lang="es-MX" altLang="es-MX" sz="16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de 2026</a:t>
            </a:r>
            <a:endParaRPr kumimoji="0" lang="es-MX" altLang="es-MX" sz="1800" b="0" i="0" u="none" strike="noStrike" cap="none" normalizeH="0" baseline="0" dirty="0" smtClean="0">
              <a:ln>
                <a:noFill/>
              </a:ln>
              <a:solidFill>
                <a:schemeClr val="tx1"/>
              </a:solidFill>
              <a:effectLst/>
              <a:latin typeface="Arial" panose="020B0604020202020204" pitchFamily="34" charset="0"/>
            </a:endParaRPr>
          </a:p>
        </p:txBody>
      </p:sp>
      <p:pic>
        <p:nvPicPr>
          <p:cNvPr id="3" name="Imagen 24"/>
          <p:cNvPicPr>
            <a:picLocks noChangeAspect="1" noChangeArrowheads="1"/>
          </p:cNvPicPr>
          <p:nvPr/>
        </p:nvPicPr>
        <p:blipFill>
          <a:blip r:embed="rId2">
            <a:extLst>
              <a:ext uri="{28A0092B-C50C-407E-A947-70E740481C1C}">
                <a14:useLocalDpi xmlns:a14="http://schemas.microsoft.com/office/drawing/2010/main" val="0"/>
              </a:ext>
            </a:extLst>
          </a:blip>
          <a:srcRect l="28514" t="17300" r="29520" b="65802"/>
          <a:stretch>
            <a:fillRect/>
          </a:stretch>
        </p:blipFill>
        <p:spPr bwMode="auto">
          <a:xfrm>
            <a:off x="2209372" y="297961"/>
            <a:ext cx="6507163" cy="147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20171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err="1" smtClean="0"/>
              <a:t>Introduccion</a:t>
            </a:r>
            <a:r>
              <a:rPr lang="es-MX" dirty="0" smtClean="0"/>
              <a:t> </a:t>
            </a:r>
            <a:endParaRPr lang="es-MX" dirty="0"/>
          </a:p>
        </p:txBody>
      </p:sp>
      <p:sp>
        <p:nvSpPr>
          <p:cNvPr id="3" name="Marcador de contenido 2"/>
          <p:cNvSpPr>
            <a:spLocks noGrp="1"/>
          </p:cNvSpPr>
          <p:nvPr>
            <p:ph idx="1"/>
          </p:nvPr>
        </p:nvSpPr>
        <p:spPr/>
        <p:txBody>
          <a:bodyPr>
            <a:normAutofit fontScale="85000" lnSpcReduction="10000"/>
          </a:bodyPr>
          <a:lstStyle/>
          <a:p>
            <a:pPr algn="just">
              <a:lnSpc>
                <a:spcPct val="150000"/>
              </a:lnSpc>
            </a:pPr>
            <a:r>
              <a:rPr lang="es-MX" dirty="0"/>
              <a:t>En el desarrollo de software moderno, escribir código desde cero para cada funcionalidad resulta ineficiente y poco práctico. Las librerías de programación son conjuntos de código </a:t>
            </a:r>
            <a:r>
              <a:rPr lang="es-MX" dirty="0" err="1"/>
              <a:t>preescrito</a:t>
            </a:r>
            <a:r>
              <a:rPr lang="es-MX" dirty="0"/>
              <a:t> que resuelven problemas específicos y permiten al desarrollador reutilizar soluciones ya probadas por la comunidad. Desde operaciones matemáticas hasta interfaces gráficas, manejo de datos o conexión a internet, las librerías son la base que acelera la creación de aplicaciones </a:t>
            </a:r>
            <a:r>
              <a:rPr lang="es-MX" dirty="0" err="1"/>
              <a:t>robustas.En</a:t>
            </a:r>
            <a:r>
              <a:rPr lang="es-MX" dirty="0"/>
              <a:t> esta presentación analizaremos qué son las librerías, sus principales tipos, ventajas, ejemplos en lenguajes como Java, C# y Python, y buenas prácticas para integrarlas en nuestros proyectos. El objetivo es comprender por qué ningún programador profesional trabaja sin ellas y cómo elegir la librería correcta puede marcar la diferencia entre un proyecto exitoso y uno lleno de errores.</a:t>
            </a:r>
          </a:p>
        </p:txBody>
      </p:sp>
    </p:spTree>
    <p:extLst>
      <p:ext uri="{BB962C8B-B14F-4D97-AF65-F5344CB8AC3E}">
        <p14:creationId xmlns:p14="http://schemas.microsoft.com/office/powerpoint/2010/main" val="2018109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err="1" smtClean="0"/>
              <a:t>Justificacion</a:t>
            </a:r>
            <a:r>
              <a:rPr lang="es-MX" dirty="0" smtClean="0"/>
              <a:t> </a:t>
            </a:r>
            <a:endParaRPr lang="es-MX" dirty="0"/>
          </a:p>
        </p:txBody>
      </p:sp>
      <p:sp>
        <p:nvSpPr>
          <p:cNvPr id="3" name="Marcador de contenido 2"/>
          <p:cNvSpPr>
            <a:spLocks noGrp="1"/>
          </p:cNvSpPr>
          <p:nvPr>
            <p:ph idx="1"/>
          </p:nvPr>
        </p:nvSpPr>
        <p:spPr/>
        <p:txBody>
          <a:bodyPr>
            <a:normAutofit fontScale="85000" lnSpcReduction="10000"/>
          </a:bodyPr>
          <a:lstStyle/>
          <a:p>
            <a:pPr algn="just">
              <a:lnSpc>
                <a:spcPct val="150000"/>
              </a:lnSpc>
            </a:pPr>
            <a:r>
              <a:rPr lang="es-MX" dirty="0"/>
              <a:t>El uso de librerías de programación se justifica en tres pilares fundamentales: eficiencia, calidad y enfoque. Eficiencia, porque evita "reinventar la rueda" al usar funciones ya optimizadas y testeadas por miles de desarrolladores. Un programador puede implementar en minutos lo que manualmente tomaría semanas. Calidad, porque las librerías populares pasan por revisiones constantes, corrección de bugs y mejoras de seguridad que un equipo pequeño difícilmente podría igualar. Enfoque, porque permiten al desarrollador centrarse en la lógica de negocio de su aplicación en lugar de perder tiempo en problemas ya resueltos, como crear un PDF, conectarse a una base de datos o dibujar una gráfica. En un entorno profesional donde el tiempo de entrega es crítico, dominar el uso de librerías es una competencia indispensable que separa al programador novato del profesional. Por ello, es vital conocer cómo funcionan, dónde buscarlas y cómo evaluarlas.</a:t>
            </a:r>
          </a:p>
        </p:txBody>
      </p:sp>
    </p:spTree>
    <p:extLst>
      <p:ext uri="{BB962C8B-B14F-4D97-AF65-F5344CB8AC3E}">
        <p14:creationId xmlns:p14="http://schemas.microsoft.com/office/powerpoint/2010/main" val="3263546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¿Qué es una biblioteca de componentes?</a:t>
            </a:r>
          </a:p>
        </p:txBody>
      </p:sp>
      <p:sp>
        <p:nvSpPr>
          <p:cNvPr id="3" name="Marcador de contenido 2"/>
          <p:cNvSpPr>
            <a:spLocks noGrp="1"/>
          </p:cNvSpPr>
          <p:nvPr>
            <p:ph idx="1"/>
          </p:nvPr>
        </p:nvSpPr>
        <p:spPr/>
        <p:txBody>
          <a:bodyPr/>
          <a:lstStyle/>
          <a:p>
            <a:pPr algn="just">
              <a:lnSpc>
                <a:spcPct val="150000"/>
              </a:lnSpc>
            </a:pPr>
            <a:r>
              <a:rPr lang="es-MX" dirty="0"/>
              <a:t>Una biblioteca de componentes es una colección organizada de elementos de interfaz de usuario (UI) prediseñados y </a:t>
            </a:r>
            <a:r>
              <a:rPr lang="es-MX" dirty="0" err="1"/>
              <a:t>preconstruidos</a:t>
            </a:r>
            <a:r>
              <a:rPr lang="es-MX" dirty="0"/>
              <a:t> que se pueden reutilizar en diversos proyectos. El objetivo principal de una biblioteca de componentes es estandarizar el desarrollo , minimizar la duplicación de código e impulsar la escalabilidad en los productos digitales</a:t>
            </a:r>
            <a:r>
              <a:rPr lang="es-MX" dirty="0" smtClean="0"/>
              <a:t>.</a:t>
            </a:r>
            <a:r>
              <a:rPr lang="es-MX" dirty="0"/>
              <a:t> Al proporcionar componentes de código reutilizables, no solo fomenta la coherencia del diseño, sino que también promueve un desarrollo y crecimiento más rápidos. </a:t>
            </a:r>
          </a:p>
        </p:txBody>
      </p:sp>
    </p:spTree>
    <p:extLst>
      <p:ext uri="{BB962C8B-B14F-4D97-AF65-F5344CB8AC3E}">
        <p14:creationId xmlns:p14="http://schemas.microsoft.com/office/powerpoint/2010/main" val="31549081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756138" y="694593"/>
            <a:ext cx="7561385" cy="2118978"/>
          </a:xfrm>
          <a:prstGeom prst="rect">
            <a:avLst/>
          </a:prstGeom>
        </p:spPr>
        <p:txBody>
          <a:bodyPr wrap="square">
            <a:spAutoFit/>
          </a:bodyPr>
          <a:lstStyle/>
          <a:p>
            <a:pPr algn="just">
              <a:lnSpc>
                <a:spcPct val="150000"/>
              </a:lnSpc>
            </a:pPr>
            <a:r>
              <a:rPr lang="es-MX" dirty="0"/>
              <a:t>Las bibliotecas de componentes desempeñan un papel fundamental en el diseño, contribuyendo significativamente a la creación de productos y servicios exitosos. Implementar una biblioteca de componentes permite ahorrar tiempo y recursos , ya que elimina la necesidad de que los desarrolladores recreen elementos comunes de forma constante</a:t>
            </a:r>
          </a:p>
        </p:txBody>
      </p:sp>
    </p:spTree>
    <p:extLst>
      <p:ext uri="{BB962C8B-B14F-4D97-AF65-F5344CB8AC3E}">
        <p14:creationId xmlns:p14="http://schemas.microsoft.com/office/powerpoint/2010/main" val="4029449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USO DE LIBRERÍAS PROPORCIONADAS POR EL LENGUAJE</a:t>
            </a:r>
          </a:p>
        </p:txBody>
      </p:sp>
      <p:sp>
        <p:nvSpPr>
          <p:cNvPr id="3" name="Marcador de contenido 2"/>
          <p:cNvSpPr>
            <a:spLocks noGrp="1"/>
          </p:cNvSpPr>
          <p:nvPr>
            <p:ph idx="1"/>
          </p:nvPr>
        </p:nvSpPr>
        <p:spPr/>
        <p:txBody>
          <a:bodyPr/>
          <a:lstStyle/>
          <a:p>
            <a:pPr algn="just">
              <a:lnSpc>
                <a:spcPct val="150000"/>
              </a:lnSpc>
            </a:pPr>
            <a:r>
              <a:rPr lang="es-MX" dirty="0"/>
              <a:t>El uso de librerías proporcionadas por el lenguaje (bibliotecas estándar) agiliza el desarrollo al ofrecer código predefinido, reutilizable y optimizado para tareas comunes como entrada/salida (</a:t>
            </a:r>
            <a:r>
              <a:rPr lang="es-MX" dirty="0" err="1"/>
              <a:t>io</a:t>
            </a:r>
            <a:r>
              <a:rPr lang="es-MX" dirty="0"/>
              <a:t>), estructuras de datos (</a:t>
            </a:r>
            <a:r>
              <a:rPr lang="es-MX" dirty="0" err="1"/>
              <a:t>util</a:t>
            </a:r>
            <a:r>
              <a:rPr lang="es-MX" dirty="0"/>
              <a:t>), matemáticas (</a:t>
            </a:r>
            <a:r>
              <a:rPr lang="es-MX" dirty="0" err="1"/>
              <a:t>math</a:t>
            </a:r>
            <a:r>
              <a:rPr lang="es-MX" dirty="0"/>
              <a:t>) o redes (net). Estas herramientas evitan reinventar la rueda, reduciendo costos y tiempos de entrega.</a:t>
            </a:r>
          </a:p>
        </p:txBody>
      </p:sp>
    </p:spTree>
    <p:extLst>
      <p:ext uri="{BB962C8B-B14F-4D97-AF65-F5344CB8AC3E}">
        <p14:creationId xmlns:p14="http://schemas.microsoft.com/office/powerpoint/2010/main" val="18323052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940777" y="674555"/>
            <a:ext cx="8203223" cy="4196470"/>
          </a:xfrm>
          <a:prstGeom prst="rect">
            <a:avLst/>
          </a:prstGeom>
        </p:spPr>
        <p:txBody>
          <a:bodyPr wrap="square">
            <a:spAutoFit/>
          </a:bodyPr>
          <a:lstStyle/>
          <a:p>
            <a:pPr algn="just">
              <a:lnSpc>
                <a:spcPct val="150000"/>
              </a:lnSpc>
            </a:pPr>
            <a:r>
              <a:rPr lang="es-MX" b="1" dirty="0"/>
              <a:t>Importación y Acceso: </a:t>
            </a:r>
            <a:r>
              <a:rPr lang="es-MX" dirty="0"/>
              <a:t>Se accede a estas librerías mediante sentencias de importación (ej. </a:t>
            </a:r>
            <a:r>
              <a:rPr lang="es-MX" dirty="0" err="1"/>
              <a:t>import</a:t>
            </a:r>
            <a:r>
              <a:rPr lang="es-MX" dirty="0"/>
              <a:t> en Java/Python, #</a:t>
            </a:r>
            <a:r>
              <a:rPr lang="es-MX" dirty="0" err="1"/>
              <a:t>include</a:t>
            </a:r>
            <a:r>
              <a:rPr lang="es-MX" dirty="0"/>
              <a:t> en C++) para utilizar clases, métodos y atributos.</a:t>
            </a:r>
          </a:p>
          <a:p>
            <a:pPr algn="just">
              <a:lnSpc>
                <a:spcPct val="150000"/>
              </a:lnSpc>
            </a:pPr>
            <a:r>
              <a:rPr lang="es-MX" b="1" dirty="0"/>
              <a:t>Ejemplos por lenguaje:</a:t>
            </a:r>
          </a:p>
          <a:p>
            <a:pPr algn="just">
              <a:lnSpc>
                <a:spcPct val="150000"/>
              </a:lnSpc>
            </a:pPr>
            <a:r>
              <a:rPr lang="es-MX" b="1" dirty="0"/>
              <a:t>Java: </a:t>
            </a:r>
            <a:r>
              <a:rPr lang="es-MX" dirty="0"/>
              <a:t>Utiliza </a:t>
            </a:r>
            <a:r>
              <a:rPr lang="es-MX" dirty="0" err="1"/>
              <a:t>java.lang</a:t>
            </a:r>
            <a:r>
              <a:rPr lang="es-MX" dirty="0"/>
              <a:t> (fundamental), </a:t>
            </a:r>
            <a:r>
              <a:rPr lang="es-MX" dirty="0" err="1"/>
              <a:t>java.util</a:t>
            </a:r>
            <a:r>
              <a:rPr lang="es-MX" dirty="0"/>
              <a:t> (colecciones), java.io (archivos) y </a:t>
            </a:r>
            <a:r>
              <a:rPr lang="es-MX" dirty="0" err="1"/>
              <a:t>java.awt</a:t>
            </a:r>
            <a:r>
              <a:rPr lang="es-MX" dirty="0"/>
              <a:t>/swing (interfaces gráficas).</a:t>
            </a:r>
          </a:p>
          <a:p>
            <a:pPr algn="just">
              <a:lnSpc>
                <a:spcPct val="150000"/>
              </a:lnSpc>
            </a:pPr>
            <a:r>
              <a:rPr lang="es-MX" b="1" dirty="0"/>
              <a:t>.NET: </a:t>
            </a:r>
            <a:r>
              <a:rPr lang="es-MX" dirty="0"/>
              <a:t>Ofrece un conjunto estándar para tipos de datos, estructuras y excepciones.</a:t>
            </a:r>
          </a:p>
          <a:p>
            <a:pPr algn="just">
              <a:lnSpc>
                <a:spcPct val="150000"/>
              </a:lnSpc>
            </a:pPr>
            <a:r>
              <a:rPr lang="es-MX" b="1" dirty="0"/>
              <a:t>C/C++: </a:t>
            </a:r>
            <a:r>
              <a:rPr lang="es-MX" dirty="0"/>
              <a:t>Clasifica librerías en estáticas y dinámicas, esenciales para funciones de sistema.</a:t>
            </a:r>
          </a:p>
        </p:txBody>
      </p:sp>
    </p:spTree>
    <p:extLst>
      <p:ext uri="{BB962C8B-B14F-4D97-AF65-F5344CB8AC3E}">
        <p14:creationId xmlns:p14="http://schemas.microsoft.com/office/powerpoint/2010/main" val="112711896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MX" dirty="0"/>
              <a:t>Creación de </a:t>
            </a:r>
            <a:r>
              <a:rPr lang="es-MX" dirty="0" smtClean="0"/>
              <a:t>componentes (visuales </a:t>
            </a:r>
            <a:r>
              <a:rPr lang="es-MX" dirty="0"/>
              <a:t>y </a:t>
            </a:r>
            <a:r>
              <a:rPr lang="es-MX" dirty="0" smtClean="0"/>
              <a:t>no visuales</a:t>
            </a:r>
            <a:r>
              <a:rPr lang="es-MX" dirty="0"/>
              <a:t>) definidos por </a:t>
            </a:r>
            <a:r>
              <a:rPr lang="es-MX" dirty="0" smtClean="0"/>
              <a:t>el usuario</a:t>
            </a:r>
            <a:endParaRPr lang="es-MX" dirty="0"/>
          </a:p>
        </p:txBody>
      </p:sp>
      <p:sp>
        <p:nvSpPr>
          <p:cNvPr id="3" name="Marcador de contenido 2"/>
          <p:cNvSpPr>
            <a:spLocks noGrp="1"/>
          </p:cNvSpPr>
          <p:nvPr>
            <p:ph idx="1"/>
          </p:nvPr>
        </p:nvSpPr>
        <p:spPr/>
        <p:txBody>
          <a:bodyPr/>
          <a:lstStyle/>
          <a:p>
            <a:pPr algn="just">
              <a:lnSpc>
                <a:spcPct val="150000"/>
              </a:lnSpc>
            </a:pPr>
            <a:r>
              <a:rPr lang="es-MX" dirty="0"/>
              <a:t>Se puede establecer muchas clasificaciones para los componentes. Una de ellas es la de visuales o controles, frente a no visuales. Un componente es visual cuando tiene una representación gráfica en tiempo de diseño y ejecución (botones, barras de </a:t>
            </a:r>
            <a:r>
              <a:rPr lang="es-MX" dirty="0" err="1"/>
              <a:t>scroll</a:t>
            </a:r>
            <a:r>
              <a:rPr lang="es-MX" dirty="0"/>
              <a:t>, cuadros de edición, etc.), y se dice no visual en caso contrario (temporizadores, cuadros de diálogo-no visibles en la fase de diseño, </a:t>
            </a:r>
            <a:r>
              <a:rPr lang="es-MX" dirty="0" err="1"/>
              <a:t>etc</a:t>
            </a:r>
            <a:r>
              <a:rPr lang="es-MX" dirty="0"/>
              <a:t>). Por lo demás no existen más diferencias entre ellos, excepto, claro está, las derivadas de la visualización del componente.</a:t>
            </a:r>
          </a:p>
        </p:txBody>
      </p:sp>
    </p:spTree>
    <p:extLst>
      <p:ext uri="{BB962C8B-B14F-4D97-AF65-F5344CB8AC3E}">
        <p14:creationId xmlns:p14="http://schemas.microsoft.com/office/powerpoint/2010/main" val="41005069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923192" y="967154"/>
            <a:ext cx="8132885" cy="5078313"/>
          </a:xfrm>
          <a:prstGeom prst="rect">
            <a:avLst/>
          </a:prstGeom>
        </p:spPr>
        <p:txBody>
          <a:bodyPr wrap="square">
            <a:spAutoFit/>
          </a:bodyPr>
          <a:lstStyle/>
          <a:p>
            <a:pPr algn="just">
              <a:lnSpc>
                <a:spcPct val="150000"/>
              </a:lnSpc>
            </a:pPr>
            <a:r>
              <a:rPr lang="es-MX" dirty="0"/>
              <a:t>los componentes visuales podemos dividirlos a su vez en dos tipos</a:t>
            </a:r>
            <a:r>
              <a:rPr lang="es-MX" dirty="0" smtClean="0"/>
              <a:t>:</a:t>
            </a:r>
          </a:p>
          <a:p>
            <a:pPr marL="285750" indent="-285750" algn="just">
              <a:lnSpc>
                <a:spcPct val="150000"/>
              </a:lnSpc>
              <a:buFont typeface="Arial" panose="020B0604020202020204" pitchFamily="34" charset="0"/>
              <a:buChar char="•"/>
            </a:pPr>
            <a:r>
              <a:rPr lang="es-MX" b="1" dirty="0"/>
              <a:t>Componentes interactivos: </a:t>
            </a:r>
            <a:r>
              <a:rPr lang="es-MX" dirty="0"/>
              <a:t>permiten que el usuario final los manipule, ya sea introduciendo datos, seleccionado elementos, etc. </a:t>
            </a:r>
            <a:endParaRPr lang="es-MX" dirty="0" smtClean="0"/>
          </a:p>
          <a:p>
            <a:pPr marL="285750" indent="-285750" algn="just">
              <a:lnSpc>
                <a:spcPct val="150000"/>
              </a:lnSpc>
              <a:buFont typeface="Arial" panose="020B0604020202020204" pitchFamily="34" charset="0"/>
              <a:buChar char="•"/>
            </a:pPr>
            <a:endParaRPr lang="es-MX" dirty="0" smtClean="0"/>
          </a:p>
          <a:p>
            <a:pPr marL="285750" indent="-285750" algn="just">
              <a:lnSpc>
                <a:spcPct val="150000"/>
              </a:lnSpc>
              <a:buFont typeface="Arial" panose="020B0604020202020204" pitchFamily="34" charset="0"/>
              <a:buChar char="•"/>
            </a:pPr>
            <a:r>
              <a:rPr lang="es-MX" b="1" dirty="0"/>
              <a:t>Componente gráficos: </a:t>
            </a:r>
            <a:r>
              <a:rPr lang="es-MX" dirty="0"/>
              <a:t>el propio componente es el encargado de dibujar en la pantalla lo que crea oportuno, bien a través de las funciones básicas del API de Windows (con el objeto </a:t>
            </a:r>
            <a:r>
              <a:rPr lang="es-MX" dirty="0" err="1"/>
              <a:t>TCanvas</a:t>
            </a:r>
            <a:r>
              <a:rPr lang="es-MX" dirty="0"/>
              <a:t>) o bien a través de otras librerías gráficas, como </a:t>
            </a:r>
            <a:r>
              <a:rPr lang="es-MX" dirty="0" err="1"/>
              <a:t>OpenGL</a:t>
            </a:r>
            <a:r>
              <a:rPr lang="es-MX" dirty="0"/>
              <a:t>, </a:t>
            </a:r>
            <a:r>
              <a:rPr lang="es-MX" dirty="0" err="1"/>
              <a:t>DirectX</a:t>
            </a:r>
            <a:r>
              <a:rPr lang="es-MX" dirty="0"/>
              <a:t>, </a:t>
            </a:r>
            <a:r>
              <a:rPr lang="es-MX" dirty="0" err="1" smtClean="0"/>
              <a:t>etc</a:t>
            </a:r>
            <a:endParaRPr lang="es-MX" dirty="0" smtClean="0"/>
          </a:p>
          <a:p>
            <a:pPr marL="285750" indent="-285750" algn="just">
              <a:lnSpc>
                <a:spcPct val="150000"/>
              </a:lnSpc>
              <a:buFont typeface="Arial" panose="020B0604020202020204" pitchFamily="34" charset="0"/>
              <a:buChar char="•"/>
            </a:pPr>
            <a:endParaRPr lang="es-MX" dirty="0"/>
          </a:p>
          <a:p>
            <a:pPr algn="just">
              <a:lnSpc>
                <a:spcPct val="150000"/>
              </a:lnSpc>
            </a:pPr>
            <a:r>
              <a:rPr lang="es-MX" dirty="0"/>
              <a:t>Los componentes no visuales se pueden colocar en los formularios de la misma manera que los controles, aunque en este caso su posición es irrelevante. </a:t>
            </a:r>
          </a:p>
        </p:txBody>
      </p:sp>
    </p:spTree>
    <p:extLst>
      <p:ext uri="{BB962C8B-B14F-4D97-AF65-F5344CB8AC3E}">
        <p14:creationId xmlns:p14="http://schemas.microsoft.com/office/powerpoint/2010/main" val="1865242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Creación y uso de paquetes/librerías definidas por el usuario</a:t>
            </a:r>
          </a:p>
        </p:txBody>
      </p:sp>
      <p:sp>
        <p:nvSpPr>
          <p:cNvPr id="3" name="Marcador de contenido 2"/>
          <p:cNvSpPr>
            <a:spLocks noGrp="1"/>
          </p:cNvSpPr>
          <p:nvPr>
            <p:ph idx="1"/>
          </p:nvPr>
        </p:nvSpPr>
        <p:spPr/>
        <p:txBody>
          <a:bodyPr/>
          <a:lstStyle/>
          <a:p>
            <a:pPr marL="0" indent="0" algn="just">
              <a:buNone/>
            </a:pPr>
            <a:r>
              <a:rPr lang="es-MX" dirty="0" smtClean="0"/>
              <a:t>Los </a:t>
            </a:r>
            <a:r>
              <a:rPr lang="es-MX" dirty="0"/>
              <a:t>paquetes son grupos de clases relacionadas; ayudan a organizar su código y proporcionan otra capa </a:t>
            </a:r>
            <a:r>
              <a:rPr lang="es-MX" dirty="0" smtClean="0"/>
              <a:t>encapsulamiento. En</a:t>
            </a:r>
            <a:r>
              <a:rPr lang="es-MX" dirty="0"/>
              <a:t> programación, los paquetes, con frecuencia son útiles para agrupar las piezas relacionadas de un programa</a:t>
            </a:r>
            <a:r>
              <a:rPr lang="es-MX" dirty="0" smtClean="0"/>
              <a:t>.</a:t>
            </a:r>
          </a:p>
          <a:p>
            <a:pPr marL="0" indent="0" algn="just">
              <a:buNone/>
            </a:pPr>
            <a:r>
              <a:rPr lang="es-MX" dirty="0"/>
              <a:t>Un paquete sirve para dos propósitos</a:t>
            </a:r>
            <a:r>
              <a:rPr lang="es-MX" dirty="0" smtClean="0"/>
              <a:t>:</a:t>
            </a:r>
          </a:p>
          <a:p>
            <a:pPr algn="just"/>
            <a:r>
              <a:rPr lang="es-MX" dirty="0" smtClean="0"/>
              <a:t>Suministra </a:t>
            </a:r>
            <a:r>
              <a:rPr lang="es-MX" dirty="0"/>
              <a:t>un mecanismo por el cual piezas relacionadas de un programa pueden ser organizadas como una </a:t>
            </a:r>
            <a:r>
              <a:rPr lang="es-MX" dirty="0" smtClean="0"/>
              <a:t>unidad</a:t>
            </a:r>
          </a:p>
          <a:p>
            <a:pPr algn="just"/>
            <a:r>
              <a:rPr lang="es-MX" dirty="0"/>
              <a:t>un paquete participa en los mecanismos de control de acceso en java. Las clases definidas dentro de un paquete pueden hacerse privadas a ese paquete y no accesibles por código fuera del paquete</a:t>
            </a:r>
          </a:p>
        </p:txBody>
      </p:sp>
    </p:spTree>
    <p:extLst>
      <p:ext uri="{BB962C8B-B14F-4D97-AF65-F5344CB8AC3E}">
        <p14:creationId xmlns:p14="http://schemas.microsoft.com/office/powerpoint/2010/main" val="28889793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err="1" smtClean="0"/>
              <a:t>Conclusion</a:t>
            </a:r>
            <a:r>
              <a:rPr lang="es-MX" dirty="0" smtClean="0"/>
              <a:t> </a:t>
            </a:r>
            <a:endParaRPr lang="es-MX" dirty="0"/>
          </a:p>
        </p:txBody>
      </p:sp>
      <p:sp>
        <p:nvSpPr>
          <p:cNvPr id="3" name="Marcador de contenido 2"/>
          <p:cNvSpPr>
            <a:spLocks noGrp="1"/>
          </p:cNvSpPr>
          <p:nvPr>
            <p:ph idx="1"/>
          </p:nvPr>
        </p:nvSpPr>
        <p:spPr/>
        <p:txBody>
          <a:bodyPr>
            <a:normAutofit fontScale="92500" lnSpcReduction="20000"/>
          </a:bodyPr>
          <a:lstStyle/>
          <a:p>
            <a:pPr algn="just">
              <a:lnSpc>
                <a:spcPct val="150000"/>
              </a:lnSpc>
            </a:pPr>
            <a:r>
              <a:rPr lang="es-MX" dirty="0"/>
              <a:t>as librerías de programación han transformado la manera en que se desarrolla software. Lejos de ser "atajos", representan la acumulación del conocimiento colectivo de la comunidad de desarrolladores y son el estándar en la industria actual. Saber utilizarlas correctamente implica menor tiempo de desarrollo, menos errores, mayor seguridad y la posibilidad de crear aplicaciones más complejas y </a:t>
            </a:r>
            <a:r>
              <a:rPr lang="es-MX" dirty="0" err="1"/>
              <a:t>potentes.Sin</a:t>
            </a:r>
            <a:r>
              <a:rPr lang="es-MX" dirty="0"/>
              <a:t> embargo, su uso debe ser responsable: elegir librerías bien mantenidas, revisar su documentación, entender sus licencias y no sobrecargar el proyecto con dependencias innecesarias. Como futuros programadores, nuestro reto no es saberlo todo, sino saber integrar las mejores herramientas para resolver problemas reales. Dominar las librerías es dominar el arte de construir sobre el trabajo de otros para llegar más lejos.</a:t>
            </a:r>
          </a:p>
        </p:txBody>
      </p:sp>
    </p:spTree>
    <p:extLst>
      <p:ext uri="{BB962C8B-B14F-4D97-AF65-F5344CB8AC3E}">
        <p14:creationId xmlns:p14="http://schemas.microsoft.com/office/powerpoint/2010/main" val="35764932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Fuentes de información </a:t>
            </a:r>
            <a:endParaRPr lang="es-MX" dirty="0"/>
          </a:p>
        </p:txBody>
      </p:sp>
      <p:sp>
        <p:nvSpPr>
          <p:cNvPr id="3" name="Marcador de contenido 2"/>
          <p:cNvSpPr>
            <a:spLocks noGrp="1"/>
          </p:cNvSpPr>
          <p:nvPr>
            <p:ph idx="1"/>
          </p:nvPr>
        </p:nvSpPr>
        <p:spPr/>
        <p:txBody>
          <a:bodyPr/>
          <a:lstStyle/>
          <a:p>
            <a:r>
              <a:rPr lang="es-MX" dirty="0" err="1"/>
              <a:t>ISc</a:t>
            </a:r>
            <a:r>
              <a:rPr lang="es-MX" dirty="0"/>
              <a:t>, H. (20 de junio de 2017). </a:t>
            </a:r>
            <a:r>
              <a:rPr lang="es-MX" dirty="0" err="1"/>
              <a:t>blogspot</a:t>
            </a:r>
            <a:r>
              <a:rPr lang="es-MX" dirty="0"/>
              <a:t>. Obtenido de https://lojijni123.blogspot.com/2017/07/topicos-avanzados-de-programacion-ll.html</a:t>
            </a:r>
          </a:p>
          <a:p>
            <a:r>
              <a:rPr lang="es-MX" dirty="0" err="1"/>
              <a:t>Jovany</a:t>
            </a:r>
            <a:r>
              <a:rPr lang="es-MX" dirty="0"/>
              <a:t>, C. R. (7 de MARZO de 2012). </a:t>
            </a:r>
            <a:r>
              <a:rPr lang="es-MX" dirty="0" err="1"/>
              <a:t>blogspot</a:t>
            </a:r>
            <a:r>
              <a:rPr lang="es-MX" dirty="0"/>
              <a:t>. Obtenido de https://progitca.blogspot.com/2012/03/35-creacion-y-uso-de-paqueteslibrerias.html</a:t>
            </a:r>
          </a:p>
          <a:p>
            <a:r>
              <a:rPr lang="es-MX" dirty="0" err="1"/>
              <a:t>LidiaDeSantiago</a:t>
            </a:r>
            <a:r>
              <a:rPr lang="es-MX" dirty="0"/>
              <a:t>. (08 de diciembre de 2013). </a:t>
            </a:r>
            <a:r>
              <a:rPr lang="es-MX" dirty="0" err="1"/>
              <a:t>itpn</a:t>
            </a:r>
            <a:r>
              <a:rPr lang="es-MX" dirty="0"/>
              <a:t>. Obtenido de http://itpn.mx/recursosisc/4semestre/topicosavanzados/Unidad%20III.pdf</a:t>
            </a:r>
          </a:p>
          <a:p>
            <a:r>
              <a:rPr lang="es-MX" dirty="0" err="1"/>
              <a:t>sanity</a:t>
            </a:r>
            <a:r>
              <a:rPr lang="es-MX" dirty="0"/>
              <a:t>. (15 de abril de 2026). </a:t>
            </a:r>
            <a:r>
              <a:rPr lang="es-MX" dirty="0" err="1"/>
              <a:t>sanity</a:t>
            </a:r>
            <a:r>
              <a:rPr lang="es-MX" dirty="0"/>
              <a:t>. Obtenido de https://www.sanity.io/glossary/component-library</a:t>
            </a:r>
          </a:p>
          <a:p>
            <a:endParaRPr lang="es-MX" dirty="0"/>
          </a:p>
        </p:txBody>
      </p:sp>
    </p:spTree>
    <p:extLst>
      <p:ext uri="{BB962C8B-B14F-4D97-AF65-F5344CB8AC3E}">
        <p14:creationId xmlns:p14="http://schemas.microsoft.com/office/powerpoint/2010/main" val="1274434816"/>
      </p:ext>
    </p:extLst>
  </p:cSld>
  <p:clrMapOvr>
    <a:masterClrMapping/>
  </p:clrMapOvr>
</p:sld>
</file>

<file path=ppt/theme/theme1.xml><?xml version="1.0" encoding="utf-8"?>
<a:theme xmlns:a="http://schemas.openxmlformats.org/drawingml/2006/main" name="Faceta">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139</TotalTime>
  <Words>1109</Words>
  <Application>Microsoft Office PowerPoint</Application>
  <PresentationFormat>Panorámica</PresentationFormat>
  <Paragraphs>52</Paragraphs>
  <Slides>12</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12</vt:i4>
      </vt:variant>
    </vt:vector>
  </HeadingPairs>
  <TitlesOfParts>
    <vt:vector size="17" baseType="lpstr">
      <vt:lpstr>Arial</vt:lpstr>
      <vt:lpstr>Times New Roman</vt:lpstr>
      <vt:lpstr>Trebuchet MS</vt:lpstr>
      <vt:lpstr>Wingdings 3</vt:lpstr>
      <vt:lpstr>Faceta</vt:lpstr>
      <vt:lpstr>Presentación de PowerPoint</vt:lpstr>
      <vt:lpstr>Introduccion </vt:lpstr>
      <vt:lpstr>Justificacion </vt:lpstr>
      <vt:lpstr>¿Qué es una biblioteca de componentes?</vt:lpstr>
      <vt:lpstr>Presentación de PowerPoint</vt:lpstr>
      <vt:lpstr>USO DE LIBRERÍAS PROPORCIONADAS POR EL LENGUAJE</vt:lpstr>
      <vt:lpstr>Presentación de PowerPoint</vt:lpstr>
      <vt:lpstr>Creación de componentes (visuales y no visuales) definidos por el usuario</vt:lpstr>
      <vt:lpstr>Presentación de PowerPoint</vt:lpstr>
      <vt:lpstr>Creación y uso de paquetes/librerías definidas por el usuario</vt:lpstr>
      <vt:lpstr>Conclusion </vt:lpstr>
      <vt:lpstr>Fuentes de información </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HP AMD</dc:creator>
  <cp:lastModifiedBy>HP AMD</cp:lastModifiedBy>
  <cp:revision>10</cp:revision>
  <dcterms:created xsi:type="dcterms:W3CDTF">2026-04-30T15:07:16Z</dcterms:created>
  <dcterms:modified xsi:type="dcterms:W3CDTF">2026-05-31T00:42:48Z</dcterms:modified>
</cp:coreProperties>
</file>